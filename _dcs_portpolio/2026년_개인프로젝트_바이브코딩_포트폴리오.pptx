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60" r:id="rId5"/>
    <p:sldId id="269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9" d="100"/>
          <a:sy n="109" d="100"/>
        </p:scale>
        <p:origin x="-594" y="-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2377440"/>
            <a:ext cx="103327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맑은 고딕"/>
              </a:rPr>
              <a:t>컨테이너 오케스트레이션 &amp;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97180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맑은 고딕"/>
              </a:rPr>
              <a:t>통합 관제 플랫폼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977639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CBD5E1"/>
                </a:solidFill>
                <a:latin typeface="맑은 고딕"/>
              </a:rPr>
              <a:t>분산 컨테이너 인스턴스 관제 · 파일 릴레이 · 모니터링 · 알림 통합 — 설계부터 운영까지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603504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3A3B8"/>
                </a:solidFill>
                <a:latin typeface="맑은 고딕"/>
              </a:rPr>
              <a:t>Backend / Infra Portfolio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맑은 고딕"/>
              </a:rPr>
              <a:t>프로젝트 배경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21792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BD5E1"/>
                </a:solidFill>
                <a:latin typeface="맑은 고딕"/>
              </a:rPr>
              <a:t>여러 서버에 흩어진 컨테이너를 통합 관리해야 하는 문제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463040"/>
            <a:ext cx="108813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</a:pPr>
            <a:r>
              <a:rPr sz="1800">
                <a:solidFill>
                  <a:srgbClr val="1F2937"/>
                </a:solidFill>
                <a:latin typeface="맑은 고딕"/>
              </a:rPr>
              <a:t>•  업무 컨테이너 인스턴스가 여러 물리 서버에 분산 배치되어, 서버별 SSH 접속 후 docker-compose up/down을 수동 실행 — 상태를 한눈에 파악할 방법이 없었음</a:t>
            </a:r>
          </a:p>
          <a:p>
            <a:pPr>
              <a:spcAft>
                <a:spcPts val="1800"/>
              </a:spcAft>
            </a:pPr>
            <a:r>
              <a:rPr sz="1800">
                <a:solidFill>
                  <a:srgbClr val="1F2937"/>
                </a:solidFill>
                <a:latin typeface="맑은 고딕"/>
              </a:rPr>
              <a:t>•  인스턴스 간 파일 연동(발신/수신)이 필요했지만, 검증되지 않은 임시 스크립트에 의존</a:t>
            </a:r>
          </a:p>
          <a:p>
            <a:pPr>
              <a:spcAft>
                <a:spcPts val="1800"/>
              </a:spcAft>
            </a:pPr>
            <a:r>
              <a:rPr sz="1800">
                <a:solidFill>
                  <a:srgbClr val="1F2937"/>
                </a:solidFill>
                <a:latin typeface="맑은 고딕"/>
              </a:rPr>
              <a:t>•  인프라 모니터링(CPU/메모리/컨테이너 상태)은 있었지만, 업무 지표(처리 건수 등)는 별도로 확인할 방법이 없었음</a:t>
            </a:r>
          </a:p>
          <a:p>
            <a:pPr>
              <a:spcAft>
                <a:spcPts val="1800"/>
              </a:spcAft>
            </a:pPr>
            <a:r>
              <a:rPr sz="1800">
                <a:solidFill>
                  <a:srgbClr val="1F2937"/>
                </a:solidFill>
                <a:latin typeface="맑은 고딕"/>
              </a:rPr>
              <a:t>•  장애(컨테이너 다운) 발생 시 담당자가 화면을 계속 보고 있어야만 인지 가능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73952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99999"/>
                </a:solidFill>
                <a:latin typeface="맑은 고딕"/>
              </a:rPr>
              <a:t>컨테이너 오케스트레이션 &amp; 통합 관제 플랫폼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473952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999999"/>
                </a:solidFill>
                <a:latin typeface="맑은 고딕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맑은 고딕"/>
              </a:rPr>
              <a:t>시스템 아키텍처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21792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BD5E1"/>
                </a:solidFill>
                <a:latin typeface="맑은 고딕"/>
              </a:rPr>
              <a:t>Manager → Server → Agent 3계층 + 파일 릴레이 + 모니터링/알림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371600"/>
            <a:ext cx="2743200" cy="640080"/>
          </a:xfrm>
          <a:prstGeom prst="roundRect">
            <a:avLst/>
          </a:prstGeom>
          <a:solidFill>
            <a:srgbClr val="2F6FED"/>
          </a:solidFill>
          <a:ln>
            <a:solidFill>
              <a:srgbClr val="2F6F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</a:rPr>
              <a:t>관제 웹 콘솔
(Manager)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331720"/>
            <a:ext cx="2743200" cy="640080"/>
          </a:xfrm>
          <a:prstGeom prst="roundRect">
            <a:avLst/>
          </a:prstGeom>
          <a:solidFill>
            <a:srgbClr val="2F6FED"/>
          </a:solidFill>
          <a:ln>
            <a:solidFill>
              <a:srgbClr val="2F6F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</a:rPr>
              <a:t>중계 서버
(Server)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82880" y="3291840"/>
            <a:ext cx="1737360" cy="594360"/>
          </a:xfrm>
          <a:prstGeom prst="roundRect">
            <a:avLst/>
          </a:prstGeom>
          <a:solidFill>
            <a:srgbClr val="1F2937"/>
          </a:solidFill>
          <a:ln>
            <a:solidFill>
              <a:srgbClr val="1F29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Host Agent #1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103120" y="3291840"/>
            <a:ext cx="1737360" cy="594360"/>
          </a:xfrm>
          <a:prstGeom prst="roundRect">
            <a:avLst/>
          </a:prstGeom>
          <a:solidFill>
            <a:srgbClr val="1F2937"/>
          </a:solidFill>
          <a:ln>
            <a:solidFill>
              <a:srgbClr val="1F29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Host Agent #2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" y="4114800"/>
            <a:ext cx="914400" cy="502920"/>
          </a:xfrm>
          <a:prstGeom prst="roundRect">
            <a:avLst/>
          </a:prstGeom>
          <a:solidFill>
            <a:srgbClr val="D97706"/>
          </a:solidFill>
          <a:ln w="19050">
            <a:solidFill>
              <a:srgbClr val="FBBF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900" b="1">
                <a:solidFill>
                  <a:srgbClr val="FFFFFF"/>
                </a:solidFill>
              </a:rPr>
              <a:t>업무컨테이너</a:t>
            </a:r>
          </a:p>
          <a:p>
            <a:pPr algn="ctr"/>
            <a:r>
              <a:rPr sz="900" b="1">
                <a:solidFill>
                  <a:srgbClr val="FFFFFF"/>
                </a:solidFill>
              </a:rPr>
              <a:t>영역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97280" y="4114800"/>
            <a:ext cx="914400" cy="502920"/>
          </a:xfrm>
          <a:prstGeom prst="roundRect">
            <a:avLst/>
          </a:prstGeom>
          <a:solidFill>
            <a:srgbClr val="D97706"/>
          </a:solidFill>
          <a:ln w="19050">
            <a:solidFill>
              <a:srgbClr val="FBBF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900" b="1">
                <a:solidFill>
                  <a:srgbClr val="FFFFFF"/>
                </a:solidFill>
              </a:rPr>
              <a:t>업무컨테이너</a:t>
            </a:r>
          </a:p>
          <a:p>
            <a:pPr algn="ctr"/>
            <a:r>
              <a:rPr sz="900" b="1">
                <a:solidFill>
                  <a:srgbClr val="FFFFFF"/>
                </a:solidFill>
              </a:rPr>
              <a:t>영역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194560" y="4114800"/>
            <a:ext cx="914400" cy="502920"/>
          </a:xfrm>
          <a:prstGeom prst="roundRect">
            <a:avLst/>
          </a:prstGeom>
          <a:solidFill>
            <a:srgbClr val="D97706"/>
          </a:solidFill>
          <a:ln w="19050">
            <a:solidFill>
              <a:srgbClr val="FBBF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900" b="1">
                <a:solidFill>
                  <a:srgbClr val="FFFFFF"/>
                </a:solidFill>
              </a:rPr>
              <a:t>업무컨테이너</a:t>
            </a:r>
          </a:p>
          <a:p>
            <a:pPr algn="ctr"/>
            <a:r>
              <a:rPr sz="900" b="1">
                <a:solidFill>
                  <a:srgbClr val="FFFFFF"/>
                </a:solidFill>
              </a:rPr>
              <a:t>영역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200400" y="4114800"/>
            <a:ext cx="914400" cy="502920"/>
          </a:xfrm>
          <a:prstGeom prst="roundRect">
            <a:avLst/>
          </a:prstGeom>
          <a:solidFill>
            <a:srgbClr val="D97706"/>
          </a:solidFill>
          <a:ln w="19050">
            <a:solidFill>
              <a:srgbClr val="FBBF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900" b="1">
                <a:solidFill>
                  <a:srgbClr val="FFFFFF"/>
                </a:solidFill>
              </a:rPr>
              <a:t>업무컨테이너</a:t>
            </a:r>
          </a:p>
          <a:p>
            <a:pPr algn="ctr"/>
            <a:r>
              <a:rPr sz="900" b="1">
                <a:solidFill>
                  <a:srgbClr val="FFFFFF"/>
                </a:solidFill>
              </a:rPr>
              <a:t>영역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0" y="3291840"/>
            <a:ext cx="2377440" cy="594360"/>
          </a:xfrm>
          <a:prstGeom prst="roundRect">
            <a:avLst/>
          </a:prstGeom>
          <a:solidFill>
            <a:srgbClr val="7C3AED"/>
          </a:solidFill>
          <a:ln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File Relay Sender
(각 인스턴스 sidecar)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0" y="4114800"/>
            <a:ext cx="2377440" cy="685800"/>
          </a:xfrm>
          <a:prstGeom prst="roundRect">
            <a:avLst/>
          </a:prstGeom>
          <a:solidFill>
            <a:srgbClr val="7C3AED"/>
          </a:solidFill>
          <a:ln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File Relay Receiver
(자체 TCP 프로토콜)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498079" y="1371600"/>
            <a:ext cx="2103120" cy="548640"/>
          </a:xfrm>
          <a:prstGeom prst="roundRect">
            <a:avLst/>
          </a:prstGeom>
          <a:solidFill>
            <a:srgbClr val="0D9488"/>
          </a:solidFill>
          <a:ln>
            <a:solidFill>
              <a:srgbClr val="0D94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맑은 고딕"/>
              </a:rPr>
              <a:t>cAdvisor / node_exporter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98079" y="2148840"/>
            <a:ext cx="2103120" cy="548640"/>
          </a:xfrm>
          <a:prstGeom prst="roundRect">
            <a:avLst/>
          </a:prstGeom>
          <a:solidFill>
            <a:srgbClr val="0D9488"/>
          </a:solidFill>
          <a:ln>
            <a:solidFill>
              <a:srgbClr val="0D94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Prometheus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498079" y="2926080"/>
            <a:ext cx="2103120" cy="548640"/>
          </a:xfrm>
          <a:prstGeom prst="roundRect">
            <a:avLst/>
          </a:prstGeom>
          <a:solidFill>
            <a:srgbClr val="0D9488"/>
          </a:solidFill>
          <a:ln>
            <a:solidFill>
              <a:srgbClr val="0D94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Grafana 대시보드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058400" y="1371600"/>
            <a:ext cx="1737360" cy="777240"/>
          </a:xfrm>
          <a:prstGeom prst="roundRect">
            <a:avLst/>
          </a:prstGeom>
          <a:solidFill>
            <a:srgbClr val="D64545"/>
          </a:solidFill>
          <a:ln>
            <a:solidFill>
              <a:srgbClr val="D645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개인 메신저
알림 API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1920240" y="2011680"/>
            <a:ext cx="0" cy="320040"/>
          </a:xfrm>
          <a:prstGeom prst="line">
            <a:avLst/>
          </a:prstGeom>
          <a:ln w="19050">
            <a:solidFill>
              <a:srgbClr val="55555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1463040" y="2971800"/>
            <a:ext cx="0" cy="320040"/>
          </a:xfrm>
          <a:prstGeom prst="line">
            <a:avLst/>
          </a:prstGeom>
          <a:ln w="19050">
            <a:solidFill>
              <a:srgbClr val="55555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3017520" y="2971800"/>
            <a:ext cx="0" cy="320040"/>
          </a:xfrm>
          <a:prstGeom prst="line">
            <a:avLst/>
          </a:prstGeom>
          <a:ln w="19050">
            <a:solidFill>
              <a:srgbClr val="55555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640080" y="3886200"/>
            <a:ext cx="0" cy="228600"/>
          </a:xfrm>
          <a:prstGeom prst="line">
            <a:avLst/>
          </a:prstGeom>
          <a:ln w="19050">
            <a:solidFill>
              <a:srgbClr val="55555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1645920" y="3886200"/>
            <a:ext cx="0" cy="228600"/>
          </a:xfrm>
          <a:prstGeom prst="line">
            <a:avLst/>
          </a:prstGeom>
          <a:ln w="19050">
            <a:solidFill>
              <a:srgbClr val="55555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5760720" y="3886200"/>
            <a:ext cx="0" cy="228600"/>
          </a:xfrm>
          <a:prstGeom prst="line">
            <a:avLst/>
          </a:prstGeom>
          <a:ln w="19050">
            <a:solidFill>
              <a:srgbClr val="55555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3291840" y="1691640"/>
            <a:ext cx="1280160" cy="2697480"/>
          </a:xfrm>
          <a:prstGeom prst="line">
            <a:avLst/>
          </a:prstGeom>
          <a:ln w="19050">
            <a:solidFill>
              <a:srgbClr val="55555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V="1">
            <a:off x="3291840" y="2423160"/>
            <a:ext cx="5212080" cy="228600"/>
          </a:xfrm>
          <a:prstGeom prst="line">
            <a:avLst/>
          </a:prstGeom>
          <a:ln w="19050">
            <a:solidFill>
              <a:srgbClr val="55555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V="1">
            <a:off x="2606040" y="1600200"/>
            <a:ext cx="8275320" cy="731520"/>
          </a:xfrm>
          <a:prstGeom prst="line">
            <a:avLst/>
          </a:prstGeom>
          <a:ln w="19050">
            <a:solidFill>
              <a:srgbClr val="55555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640080" y="5029200"/>
            <a:ext cx="108813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40080" y="5029200"/>
            <a:ext cx="108813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>
                <a:solidFill>
                  <a:srgbClr val="1F2937"/>
                </a:solidFill>
                <a:latin typeface="맑은 고딕"/>
              </a:rPr>
              <a:t>•  Manager는 어떤 물리서버에 어떤 인스턴스가 있는지 몰라도 됨 — Server가 라우팅을 담당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1F2937"/>
                </a:solidFill>
                <a:latin typeface="맑은 고딕"/>
              </a:rPr>
              <a:t>•  File Relay는 HTTP가 아닌 자체 TCP 바이너리 프로토콜로 구현 (대용량 스트리밍 + pull 방식 수신 지원)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1F2937"/>
                </a:solidFill>
                <a:latin typeface="맑은 고딕"/>
              </a:rPr>
              <a:t>•  Server가 상태를 주기적으로 폴링하며 up/down 전이를 감지해 알림 API 호출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6473952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99999"/>
                </a:solidFill>
                <a:latin typeface="맑은 고딕"/>
              </a:rPr>
              <a:t>컨테이너 오케스트레이션 &amp; 통합 관제 플랫폼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247120" y="6473952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999999"/>
                </a:solidFill>
                <a:latin typeface="맑은 고딕"/>
              </a:rPr>
              <a:t>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200000" y="3550000"/>
            <a:ext cx="4700000" cy="11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D97706"/>
                </a:solidFill>
              </a:rPr>
              <a:t>제가 직접 담당하는 영역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555555"/>
                </a:solidFill>
              </a:rPr>
              <a:t>실무에서 직접 설계·운영 중인 업무 컨테이너 경험을 바탕으로 이 플랫폼을 구축했습니다.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555555"/>
                </a:solidFill>
              </a:rPr>
              <a:t>사용 기술: AWS, Docker, JAVA, C++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맑은 고딕"/>
              </a:rPr>
              <a:t>핵심 성과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554480"/>
            <a:ext cx="548640" cy="548640"/>
          </a:xfrm>
          <a:prstGeom prst="roundRect">
            <a:avLst/>
          </a:prstGeom>
          <a:solidFill>
            <a:srgbClr val="2F6FED"/>
          </a:solidFill>
          <a:ln>
            <a:solidFill>
              <a:srgbClr val="2F6F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맑은 고딕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1581912"/>
            <a:ext cx="10058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F2937"/>
                </a:solidFill>
                <a:latin typeface="맑은 고딕"/>
              </a:rPr>
              <a:t>가동/중지, 신규 등록, 삭제를 웹 UI에서 원클릭으로 처리 — 서버별 SSH 접속 불필요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331720"/>
            <a:ext cx="548640" cy="548640"/>
          </a:xfrm>
          <a:prstGeom prst="roundRect">
            <a:avLst/>
          </a:prstGeom>
          <a:solidFill>
            <a:srgbClr val="2F6FED"/>
          </a:solidFill>
          <a:ln>
            <a:solidFill>
              <a:srgbClr val="2F6F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맑은 고딕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2359152"/>
            <a:ext cx="10058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F2937"/>
                </a:solidFill>
                <a:latin typeface="맑은 고딕"/>
              </a:rPr>
              <a:t>인스턴스 확장 가능한 구조 설계 (Server가 DB 기반 라우팅 테이블로 물리 서버 위치 관리)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108960"/>
            <a:ext cx="548640" cy="548640"/>
          </a:xfrm>
          <a:prstGeom prst="roundRect">
            <a:avLst/>
          </a:prstGeom>
          <a:solidFill>
            <a:srgbClr val="2F6FED"/>
          </a:solidFill>
          <a:ln>
            <a:solidFill>
              <a:srgbClr val="2F6F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맑은 고딕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136392"/>
            <a:ext cx="10058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F2937"/>
                </a:solidFill>
                <a:latin typeface="맑은 고딕"/>
              </a:rPr>
              <a:t>자체 TCP 프로토콜로 파일 릴레이 시스템을 처음부터 구현, 운영 실데이터 보호 로직 적용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886200"/>
            <a:ext cx="548640" cy="548640"/>
          </a:xfrm>
          <a:prstGeom prst="roundRect">
            <a:avLst/>
          </a:prstGeom>
          <a:solidFill>
            <a:srgbClr val="2F6FED"/>
          </a:solidFill>
          <a:ln>
            <a:solidFill>
              <a:srgbClr val="2F6F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맑은 고딕"/>
              </a:rPr>
              <a:t>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3913632"/>
            <a:ext cx="10058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F2937"/>
                </a:solidFill>
                <a:latin typeface="맑은 고딕"/>
              </a:rPr>
              <a:t>Prometheus/Grafana 인프라 모니터링에 업무 지표를 자연스럽게 통합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4663440"/>
            <a:ext cx="548640" cy="548640"/>
          </a:xfrm>
          <a:prstGeom prst="roundRect">
            <a:avLst/>
          </a:prstGeom>
          <a:solidFill>
            <a:srgbClr val="2F6FED"/>
          </a:solidFill>
          <a:ln>
            <a:solidFill>
              <a:srgbClr val="2F6F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맑은 고딕"/>
              </a:rPr>
              <a:t>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4690872"/>
            <a:ext cx="10058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F2937"/>
                </a:solidFill>
                <a:latin typeface="맑은 고딕"/>
              </a:rPr>
              <a:t>상태 폴링 로직에 전이 감지를 추가해 장애 발생 시 개인 메신저로 즉시 알림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5440680"/>
            <a:ext cx="548640" cy="548640"/>
          </a:xfrm>
          <a:prstGeom prst="roundRect">
            <a:avLst/>
          </a:prstGeom>
          <a:solidFill>
            <a:srgbClr val="2F6FED"/>
          </a:solidFill>
          <a:ln>
            <a:solidFill>
              <a:srgbClr val="2F6F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맑은 고딕"/>
              </a:rPr>
              <a:t>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5468112"/>
            <a:ext cx="10058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F2937"/>
                </a:solidFill>
                <a:latin typeface="맑은 고딕"/>
              </a:rPr>
              <a:t>동기 블로킹 API를 비동기로 리팩터링해 UI 응답시간을 수십 초 → 0.2초로 단축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6473952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99999"/>
                </a:solidFill>
                <a:latin typeface="맑은 고딕"/>
              </a:rPr>
              <a:t>컨테이너 오케스트레이션 &amp; 통합 관제 플랫폼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247120" y="6473952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999999"/>
                </a:solidFill>
                <a:latin typeface="맑은 고딕"/>
              </a:rPr>
              <a:t>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맑은 고딕"/>
              </a:rPr>
              <a:t>감사합니다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56616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CBD5E1"/>
                </a:solidFill>
                <a:latin typeface="맑은 고딕"/>
              </a:rPr>
              <a:t>설계부터 운영/트러블슈팅까지 전 과정을 직접 수행한 경험을 담았습니다.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99999"/>
                </a:solidFill>
                <a:latin typeface="맑은 고딕"/>
              </a:rPr>
              <a:t>컨테이너 오케스트레이션 &amp; 통합 관제 플랫폼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73952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999999"/>
                </a:solidFill>
                <a:latin typeface="맑은 고딕"/>
              </a:rPr>
              <a:t>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179</TotalTime>
  <Words>345</Words>
  <Application>Microsoft Office PowerPoint</Application>
  <PresentationFormat>사용자 지정</PresentationFormat>
  <Paragraphs>52</Paragraphs>
  <Slides>5</Slides>
  <Notes>0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5</vt:i4>
      </vt:variant>
    </vt:vector>
  </HeadingPairs>
  <TitlesOfParts>
    <vt:vector size="6" baseType="lpstr"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lyc112</dc:creator>
  <dc:description>generated using python-pptx</dc:description>
  <cp:lastModifiedBy>lyc112</cp:lastModifiedBy>
  <cp:revision>11</cp:revision>
  <dcterms:created xsi:type="dcterms:W3CDTF">2013-01-27T09:14:16Z</dcterms:created>
  <dcterms:modified xsi:type="dcterms:W3CDTF">2026-08-31T04:42:26Z</dcterms:modified>
</cp:coreProperties>
</file>